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4400" y="91440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17320" y="91440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3444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691640" y="137160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60020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2070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8869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787652" y="133045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727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664208" y="1755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332720" y="52120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35640" y="52120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55321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1109960" y="56692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52760" y="58978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05288" y="55046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08208" y="5184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05972" y="56281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25328" y="58704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2528" y="60533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 flipV="1">
            <a:off x="10607040" y="100584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0" y="100584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132588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1384280" y="146304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27080" y="169164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79608" y="12984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82528" y="9784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80292" y="142189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99648" y="16642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56848" y="18470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murder of MCP servers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1371600" y="35204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Taming AI tool sprawl with GraphQL federation and a knowledge graph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5638648" y="4224528"/>
            <a:ext cx="914400" cy="0"/>
          </a:xfrm>
          <a:prstGeom prst="line">
            <a:avLst/>
          </a:prstGeom>
          <a:noFill/>
          <a:ln w="25400">
            <a:solidFill>
              <a:srgbClr val="22D3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4348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Giffard  ·  Lead PM, Neo4j  ·  NODES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1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~3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server sprawl is the real constraint now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murder of MCP servers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4080" y="1901952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4080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36112" y="178308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36112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8144" y="1828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8144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20176" y="1901952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20176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94080" y="2724912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4080" y="27249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36112" y="2770632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36112" y="27706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8144" y="2843784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8144" y="284378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720176" y="2724912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20176" y="27249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94080" y="3712464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4080" y="371246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636112" y="3785616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36112" y="378561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78144" y="3666744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78144" y="366674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720176" y="3712464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7275A"/>
          </a:solidFill>
          <a:ln/>
          <a:effectLst>
            <a:outerShdw sx="100000" sy="100000" kx="0" ky="0" algn="bl" rotWithShape="0" blurRad="76200" dist="25400" dir="5400000">
              <a:srgbClr val="1A234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720176" y="371246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SaaS vendor ships one now.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 has moved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874520"/>
            <a:ext cx="10362895" cy="2103120"/>
          </a:xfrm>
          <a:prstGeom prst="roundRect">
            <a:avLst>
              <a:gd name="adj" fmla="val 6087"/>
            </a:avLst>
          </a:prstGeom>
          <a:solidFill>
            <a:srgbClr val="0F1B3D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103120"/>
            <a:ext cx="96313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constraint in production AI isn’t connecting to systems anymore. It’s managing the surface area."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solved the AI </a:t>
            </a:r>
            <a:pPr algn="ctr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 — connecting to a system is solved.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ten servers together and you get a different problem: auth sprawl, disconnected tool namespaces, inconsistent response shapes.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We’ve been here before.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2_prece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~2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precedent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We’ve solved this exact shape of problem before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sprawl, before federation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965960"/>
            <a:ext cx="4907128" cy="3566160"/>
          </a:xfrm>
          <a:prstGeom prst="roundRect">
            <a:avLst>
              <a:gd name="adj" fmla="val 3077"/>
            </a:avLst>
          </a:prstGeom>
          <a:solidFill>
            <a:srgbClr val="FBF0EA"/>
          </a:solidFill>
          <a:ln w="12700">
            <a:solidFill>
              <a:srgbClr val="C96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7924" y="2286000"/>
            <a:ext cx="640080" cy="64008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18" name="Image 0" descr="/Users/jg/Projects/nodes2026/.slidebuild/icons/server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337" y="2388413"/>
            <a:ext cx="435254" cy="43525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310896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3520440"/>
            <a:ext cx="4358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REST services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its own auth, its own response shape, its own client code to maintain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370168" y="1965960"/>
            <a:ext cx="4907128" cy="3566160"/>
          </a:xfrm>
          <a:prstGeom prst="roundRect">
            <a:avLst>
              <a:gd name="adj" fmla="val 3077"/>
            </a:avLst>
          </a:prstGeom>
          <a:solidFill>
            <a:srgbClr val="EAFBF8"/>
          </a:solidFill>
          <a:ln w="12700">
            <a:solidFill>
              <a:srgbClr val="0E9C9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691" y="2286000"/>
            <a:ext cx="640080" cy="64008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3" name="Image 1" descr="/Users/jg/Projects/nodes2026/.slidebuild/icons/section3_patt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04" y="2388413"/>
            <a:ext cx="435254" cy="43525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70168" y="310896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GraphQL federation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644488" y="3520440"/>
            <a:ext cx="4358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services, one schema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schema, one endpoint — the composition layer absorbs the differences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already shipping, not speculative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7" name="Image 0" descr="/Users/jg/Projects/nodes2026/.slidebuild/icons/building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234794"/>
            <a:ext cx="559613" cy="55961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011680" y="214884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federation gateways already ship an MCP surface on top of the composed schema.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a hypothetical architecture — it’s the same federation pattern, one layer up the stack, running in production today.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914400" y="4297680"/>
            <a:ext cx="10362895" cy="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4805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vendors stay unnamed on stage — credibility signal, not a pitch.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3_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~5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applied to MCP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one auth surface, a governed tool list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APPLIED TO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7" name="Image 0" descr="/Users/jg/Projects/nodes2026/.slidebuild/icons/icon_end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43354"/>
            <a:ext cx="559613" cy="55961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011680" y="18745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endpoint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11680" y="237744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subgraphs — Linear, Slack, Neo4j — behind a single Streamable HTTP endpoint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14400" y="338328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1" name="Image 1" descr="/Users/jg/Projects/nodes2026/.slidebuild/icons/icon_au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4" y="3514954"/>
            <a:ext cx="559613" cy="55961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011680" y="32461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 surface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2011680" y="374904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 production (Cognito-backed); a bearer token or nothing at all for a local dev router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914400" y="475488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5" name="Image 2" descr="/Users/jg/Projects/nodes2026/.slidebuild/icons/icon_o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4886554"/>
            <a:ext cx="559613" cy="55961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011680" y="46177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named operations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2011680" y="512064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discovers persisted operations, not the raw federated schema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APPLIED TO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collapse, in real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874520"/>
            <a:ext cx="490712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FEDERATION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6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servers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234440" y="3474720"/>
            <a:ext cx="426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Slack (13 tools) · a bare Neo4j canary — dozens of tools, the agent picks among them itself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70168" y="1874520"/>
            <a:ext cx="4907128" cy="3246120"/>
          </a:xfrm>
          <a:prstGeom prst="roundRect">
            <a:avLst>
              <a:gd name="adj" fmla="val 3380"/>
            </a:avLst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70168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FEDERATION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0168" y="2468880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tools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690208" y="3474720"/>
            <a:ext cx="4267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endpoint. Three real, different upstream protocols — native GraphQL, a GraphQL library server, and REST wrapped as a plugin — absorbed underneath.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Live-verified, not a slideware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APPLIED TO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Persisted operations as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7830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surface exposes only these four named operations — not 60+ raw federated GraphQL fields.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51460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63500" dist="25400" dir="5400000">
              <a:srgbClr val="1A234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786852" y="2788920"/>
            <a:ext cx="640080" cy="64008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9" name="Image 0" descr="/Users/jg/Projects/nodes2026/.slidebuild/icons/op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265" y="2891333"/>
            <a:ext cx="435254" cy="43525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3611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get_issue_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discussion_context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7280" y="434340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cross-system context for one issue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573704" y="251460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63500" dist="25400" dir="5400000">
              <a:srgbClr val="1A234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46156" y="2788920"/>
            <a:ext cx="640080" cy="64008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4" name="Image 1" descr="/Users/jg/Projects/nodes2026/.slidebuild/icons/op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569" y="2891333"/>
            <a:ext cx="435254" cy="43525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10864" y="3611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search_messages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756584" y="434340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graph’s search — the only search surface in the demo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233008" y="251460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63500" dist="25400" dir="5400000">
              <a:srgbClr val="1A234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105460" y="2788920"/>
            <a:ext cx="640080" cy="64008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9" name="Image 2" descr="/Users/jg/Projects/nodes2026/.slidebuild/icons/op_lin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72" y="2891333"/>
            <a:ext cx="435254" cy="43525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70168" y="3611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linear_project_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15888" y="434340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Linear issue list, real-time state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892311" y="251460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63500" dist="25400" dir="5400000">
              <a:srgbClr val="1A234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764763" y="2788920"/>
            <a:ext cx="640080" cy="64008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34" name="Image 3" descr="/Users/jg/Projects/nodes2026/.slidebuild/icons/op_s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176" y="2891333"/>
            <a:ext cx="435254" cy="43525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29471" y="3611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slack_thread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075191" y="434340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Slack thread, real-time messages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914400" y="54864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built-in get_operation_info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4_ed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~2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edges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tensions, said out loud before Q&amp;A finds them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EDGES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tensions, said out 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17" name="Image 0" descr="/Users/jg/Projects/nodes2026/.slidebuild/icons/tension_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044598"/>
            <a:ext cx="528523" cy="52852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965960" y="182880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Action-heavy vs. retrieval-heavy agents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965960" y="228600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handles reads cleanly. Writes work too, but the governance story is harder — persisted operations help, this isn’t fully solved.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914400" y="3273552"/>
            <a:ext cx="777240" cy="77724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21" name="Image 1" descr="/Users/jg/Projects/nodes2026/.slidebuild/icons/tension_gatew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3397910"/>
            <a:ext cx="528523" cy="52852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65960" y="3182112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 itself a component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965960" y="3639312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MCP-server sprawl for one more piece of operational surface area. Worth it above roughly 4 MCP servers.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914400" y="4626864"/>
            <a:ext cx="777240" cy="77724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25" name="Image 2" descr="/Users/jg/Projects/nodes2026/.slidebuild/icons/tension_thresh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4751222"/>
            <a:ext cx="528523" cy="52852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965960" y="4535424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for vector linking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965960" y="4992624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live-tested tension, not a hypothetical one — the full story comes in Section 7.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5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~3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federation doesn’t give you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is not the same as intelligent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FEDERATION DOESN’T GIVE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graph is the missing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endpoint collapses the tool surface. It does not, by itself, let the agent reason </a:t>
            </a:r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three systems.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graph isn’t a fourth data source next to the other three — it’s the layer that holds the relationships </a:t>
            </a:r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3429000"/>
            <a:ext cx="3271418" cy="1188720"/>
          </a:xfrm>
          <a:prstGeom prst="roundRect">
            <a:avLst>
              <a:gd name="adj" fmla="val 7692"/>
            </a:avLst>
          </a:prstGeom>
          <a:solidFill>
            <a:srgbClr val="EAFBF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2044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60138" y="3429000"/>
            <a:ext cx="3271418" cy="1188720"/>
          </a:xfrm>
          <a:prstGeom prst="roundRect">
            <a:avLst>
              <a:gd name="adj" fmla="val 7692"/>
            </a:avLst>
          </a:prstGeom>
          <a:solidFill>
            <a:srgbClr val="EAFBF8"/>
          </a:solidFill>
          <a:ln/>
        </p:spPr>
      </p:sp>
      <p:sp>
        <p:nvSpPr>
          <p:cNvPr id="21" name="Text 19"/>
          <p:cNvSpPr/>
          <p:nvPr/>
        </p:nvSpPr>
        <p:spPr>
          <a:xfrm>
            <a:off x="4460138" y="352044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460138" y="4160520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types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5877" y="3429000"/>
            <a:ext cx="3271418" cy="1188720"/>
          </a:xfrm>
          <a:prstGeom prst="roundRect">
            <a:avLst>
              <a:gd name="adj" fmla="val 7692"/>
            </a:avLst>
          </a:prstGeom>
          <a:solidFill>
            <a:srgbClr val="EAFBF8"/>
          </a:solidFill>
          <a:ln/>
        </p:spPr>
      </p:sp>
      <p:sp>
        <p:nvSpPr>
          <p:cNvPr id="24" name="Text 22"/>
          <p:cNvSpPr/>
          <p:nvPr/>
        </p:nvSpPr>
        <p:spPr>
          <a:xfrm>
            <a:off x="8005877" y="352044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005877" y="4160520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carries evidence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" y="4892040"/>
            <a:ext cx="10362895" cy="1051560"/>
          </a:xfrm>
          <a:prstGeom prst="roundRect">
            <a:avLst>
              <a:gd name="adj" fmla="val 10435"/>
            </a:avLst>
          </a:prstGeom>
          <a:solidFill>
            <a:srgbClr val="0F1B3D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489204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federated endpoint is manageable. A knowledge graph makes it intelligent."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6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~13–14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on seeded data, then live embedding on real data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60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6517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F1B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(podman)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3246120"/>
            <a:ext cx="457200" cy="0"/>
          </a:xfrm>
          <a:prstGeom prst="line">
            <a:avLst/>
          </a:prstGeom>
          <a:noFill/>
          <a:ln w="25400">
            <a:solidFill>
              <a:srgbClr val="22D3C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83280" y="26517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7275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 Router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Slack plugin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0" y="3246120"/>
            <a:ext cx="457200" cy="0"/>
          </a:xfrm>
          <a:prstGeom prst="line">
            <a:avLst/>
          </a:prstGeom>
          <a:noFill/>
          <a:ln w="25400">
            <a:solidFill>
              <a:srgbClr val="22D3C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26517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F1B3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63840" y="3246120"/>
            <a:ext cx="457200" cy="0"/>
          </a:xfrm>
          <a:prstGeom prst="line">
            <a:avLst/>
          </a:prstGeom>
          <a:noFill/>
          <a:ln w="25400">
            <a:solidFill>
              <a:srgbClr val="22D3C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21040" y="26517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7275A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Desktop)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local: everything except Linear and Slack (SaaS) runs on the laptop — the "where this runs in production" slide (AWS Fargate + Aura) comes later, once, not as the live setup.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graph, 90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920240"/>
            <a:ext cx="188969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011680"/>
            <a:ext cx="1889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32699" y="1920240"/>
            <a:ext cx="188969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2699" y="2011680"/>
            <a:ext cx="1889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032699" y="2743200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50998" y="1920240"/>
            <a:ext cx="188969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0998" y="2011680"/>
            <a:ext cx="1889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150998" y="2743200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297" y="1920240"/>
            <a:ext cx="188969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297" y="2011680"/>
            <a:ext cx="1889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69297" y="2743200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87596" y="1920240"/>
            <a:ext cx="1889699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7596" y="2011680"/>
            <a:ext cx="1889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387596" y="2743200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edges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3703320"/>
            <a:ext cx="10362895" cy="1554480"/>
          </a:xfrm>
          <a:prstGeom prst="roundRect">
            <a:avLst>
              <a:gd name="adj" fmla="val 7059"/>
            </a:avLst>
          </a:prstGeom>
          <a:solidFill>
            <a:srgbClr val="FBF0EA"/>
          </a:solidFill>
          <a:ln w="12700">
            <a:solidFill>
              <a:srgbClr val="C96A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977640"/>
            <a:ext cx="822960" cy="82296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33" name="Image 0" descr="/Users/jg/Projects/nodes2026/.slidebuild/icons/orpha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4109314"/>
            <a:ext cx="559613" cy="55961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2286000" y="3977640"/>
            <a:ext cx="8534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deliberately orphaned thread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"the schema problem" without naming the issue. The regex/explicit pass can’t catch it. "There’s a second story in this graph — we’ll come back to it."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federation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783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did the team decide about the schema validation issue in NODES-1?"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18" name="Image 0" descr="/Users/jg/Projects/nodes2026/.slidebuild/icons/con_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7860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246888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MCP servers open at once — Linear, Slack, Neo4j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21" name="Image 1" descr="/Users/jg/Projects/nodes2026/.slidebuild/icons/con_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447288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00200" y="333756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tool calls across servers, scattered context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914400" y="4251960"/>
            <a:ext cx="457200" cy="45720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24" name="Image 2" descr="/Users/jg/Projects/nodes2026/.slidebuild/icons/con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31596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420624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weaker, less complete answer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914400" y="5120640"/>
            <a:ext cx="457200" cy="45720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27" name="Image 3" descr="/Users/jg/Projects/nodes2026/.slidebuild/icons/con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18464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507492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Slack server here has no message-search tool at all — a bot token can’t call search.messages (a Slack platform limit, not a federation argument)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federation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agent. Same question. Pointed at the router’s MCP endpoint.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8" name="Image 0" descr="/Users/jg/Projects/nodes2026/.slidebuild/icons/pro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465222"/>
            <a:ext cx="373075" cy="3730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237744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3A"/>
                </a:solidFill>
              </a:rPr>
              <a:t>One tool call: </a:t>
            </a:r>
            <a:pPr indent="0" marL="0">
              <a:buNone/>
            </a:pPr>
            <a:r>
              <a:rPr lang="en-US" sz="1400" dirty="0">
                <a:solidFill>
                  <a:srgbClr val="0E9C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get_issue_discussion_context(identifier: "NODES-1")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4400" y="3291840"/>
            <a:ext cx="10362895" cy="2651760"/>
          </a:xfrm>
          <a:prstGeom prst="roundRect">
            <a:avLst>
              <a:gd name="adj" fmla="val 4138"/>
            </a:avLst>
          </a:prstGeom>
          <a:solidFill>
            <a:srgbClr val="0F1B3D"/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3520440"/>
            <a:ext cx="94484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team decided to use explicit @shareable annotations across all three subgraphs to preserve nullability during composition. Sarah identified the root cause; Alex made the decision and confirmed the fix landed."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Cypher behind the answer, 90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7" name="Image 0" descr="/Users/jg/Projects/nodes2026/.slidebuild/icons/cod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870862"/>
            <a:ext cx="373075" cy="37307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0020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Cypher, live — not a mockup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14400" y="2514600"/>
            <a:ext cx="10362895" cy="2377440"/>
          </a:xfrm>
          <a:prstGeom prst="roundRect">
            <a:avLst>
              <a:gd name="adj" fmla="val 3846"/>
            </a:avLst>
          </a:prstGeom>
          <a:solidFill>
            <a:srgbClr val="0A1330"/>
          </a:solidFill>
          <a:ln/>
        </p:spPr>
      </p:sp>
      <p:sp>
        <p:nvSpPr>
          <p:cNvPr id="20" name="Text 17"/>
          <p:cNvSpPr/>
          <p:nvPr/>
        </p:nvSpPr>
        <p:spPr>
          <a:xfrm>
            <a:off x="1280160" y="2697480"/>
            <a:ext cx="9631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(i:Issue {identifier: $identifier})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(i)-[d:DISCUSSED_IN]-&gt;(t:Thread)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(t)-[:HAS_MESSAGE]-&gt;(m:Message)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D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i, d.confidence, d.evidence, t, 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MATCH, traversing :DISCUSSED_IN, crossing what started as Linear data and Slack data as one connected graph. The agent never knew it was talking to a graph.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48640" y="54864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54864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6868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25880" y="100584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3444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8412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5212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421892" y="96469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12070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389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>
            <a:off x="5638648" y="1188720"/>
            <a:ext cx="914400" cy="91440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3" name="Image 0" descr="/Users/jg/Projects/nodes2026/.slidebuild/icons/orpha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423160"/>
            <a:ext cx="94484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team has another discussion about the same problem — they just didn’t name the issue, so the regex linker missed it."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411480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what happens when we let the graph find that connection itself — on real data, live, right now."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C96A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something and watch it land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new Slack message about an existing real issue — without naming its identifier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457200" cy="457200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301752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one or two polling intervals while sync --watch sits there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97764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tick embeds it and creates the edge live — evidence: "semantic_match," not "explicit_mention"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4983480"/>
            <a:ext cx="457200" cy="457200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93776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new edge directly against the graph (livedemo database)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7_lear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~4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building this live taught us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preview — it ran, and it broke in an interesting way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THIS LIVE TAUGHT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isn’t a preview anymore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7" name="Image 0" descr="/Users/jg/Projects/nodes2026/.slidebuild/icons/col_ve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1960474"/>
            <a:ext cx="559613" cy="55961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965960" y="187452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model, running locally: nomic-embed-text-v1.5, via LM Studio.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embedding API in the loop.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3200400"/>
            <a:ext cx="10362895" cy="13716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20" name="Text 17"/>
          <p:cNvSpPr/>
          <p:nvPr/>
        </p:nvSpPr>
        <p:spPr>
          <a:xfrm>
            <a:off x="1280160" y="320040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graph stores embeddings as a property type. Any model that produces a list of floats can populate it — the vector index doesn’t care where the floats came from."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THIS LIVE TAUGHT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we found the hard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828800"/>
            <a:ext cx="4952848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103120"/>
            <a:ext cx="640080" cy="64008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18" name="Image 0" descr="/Users/jg/Projects/nodes2026/.slidebuild/icons/db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133" y="2205533"/>
            <a:ext cx="435254" cy="43525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2880360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seeded data can’t share a database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3657600"/>
            <a:ext cx="449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workspace mirrors the demo story closely enough that their embeddings collided — cross-links between the fictional and real versions of the same issues. Fixed with a second, isolated Neo4j database.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324448" y="1828800"/>
            <a:ext cx="4952848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98768" y="2103120"/>
            <a:ext cx="640080" cy="640080"/>
          </a:xfrm>
          <a:prstGeom prst="ellipse">
            <a:avLst/>
          </a:prstGeom>
          <a:solidFill>
            <a:srgbClr val="C96A3E"/>
          </a:solidFill>
          <a:ln/>
        </p:spPr>
      </p:sp>
      <p:pic>
        <p:nvPicPr>
          <p:cNvPr id="23" name="Image 1" descr="/Users/jg/Projects/nodes2026/.slidebuild/icons/char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180" y="2205533"/>
            <a:ext cx="435254" cy="43525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53048" y="2880360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threshold doesn’t generalize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53048" y="3657600"/>
            <a:ext cx="449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 tuned on 6 issues: 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1 true link (0.7811), excludes 4 false ones — a 0.0024-wide margin.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0.78 on 8 real issues: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link still forms — but 7 more false positives get through.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THIS LIVE TAUGHT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production needs instead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bigger threshold — a better scoring signal.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246888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EAFBF8"/>
          </a:solidFill>
          <a:ln/>
        </p:spPr>
      </p:sp>
      <p:sp>
        <p:nvSpPr>
          <p:cNvPr id="18" name="Shape 16"/>
          <p:cNvSpPr/>
          <p:nvPr/>
        </p:nvSpPr>
        <p:spPr>
          <a:xfrm>
            <a:off x="1786852" y="2743200"/>
            <a:ext cx="640080" cy="64008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19" name="Image 0" descr="/Users/jg/Projects/nodes2026/.slidebuild/icons/reranking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265" y="2845613"/>
            <a:ext cx="435254" cy="43525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97280" y="40690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 that scores candidates in context, not just raw cosine similarity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73704" y="246888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EAFBF8"/>
          </a:solidFill>
          <a:ln/>
        </p:spPr>
      </p:sp>
      <p:sp>
        <p:nvSpPr>
          <p:cNvPr id="23" name="Shape 20"/>
          <p:cNvSpPr/>
          <p:nvPr/>
        </p:nvSpPr>
        <p:spPr>
          <a:xfrm>
            <a:off x="4446156" y="2743200"/>
            <a:ext cx="640080" cy="64008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4" name="Image 1" descr="/Users/jg/Projects/nodes2026/.slidebuild/icons/char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569" y="2845613"/>
            <a:ext cx="435254" cy="43525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10864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matching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3756584" y="40690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match" instead of "everything above X"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233008" y="246888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EAFBF8"/>
          </a:solidFill>
          <a:ln/>
        </p:spPr>
      </p:sp>
      <p:sp>
        <p:nvSpPr>
          <p:cNvPr id="28" name="Shape 24"/>
          <p:cNvSpPr/>
          <p:nvPr/>
        </p:nvSpPr>
        <p:spPr>
          <a:xfrm>
            <a:off x="7105460" y="2743200"/>
            <a:ext cx="640080" cy="64008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29" name="Image 2" descr="/Users/jg/Projects/nodes2026/.slidebuild/icons/context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72" y="2845613"/>
            <a:ext cx="435254" cy="43525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70168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per chunk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6415888" y="40690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titles and messages embed ambiguously; more surrounding text helps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892311" y="2468880"/>
            <a:ext cx="2384984" cy="2834640"/>
          </a:xfrm>
          <a:prstGeom prst="roundRect">
            <a:avLst>
              <a:gd name="adj" fmla="val 4601"/>
            </a:avLst>
          </a:prstGeom>
          <a:solidFill>
            <a:srgbClr val="EAFBF8"/>
          </a:solidFill>
          <a:ln/>
        </p:spPr>
      </p:sp>
      <p:sp>
        <p:nvSpPr>
          <p:cNvPr id="33" name="Shape 28"/>
          <p:cNvSpPr/>
          <p:nvPr/>
        </p:nvSpPr>
        <p:spPr>
          <a:xfrm>
            <a:off x="9764763" y="2743200"/>
            <a:ext cx="640080" cy="640080"/>
          </a:xfrm>
          <a:prstGeom prst="ellipse">
            <a:avLst/>
          </a:prstGeom>
          <a:solidFill>
            <a:srgbClr val="0E9C90"/>
          </a:solidFill>
          <a:ln/>
        </p:spPr>
      </p:sp>
      <p:pic>
        <p:nvPicPr>
          <p:cNvPr id="34" name="Image 3" descr="/Users/jg/Projects/nodes2026/.slidebuild/icons/hybrid_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176" y="2845613"/>
            <a:ext cx="435254" cy="43525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29471" y="3566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</a:t>
            </a:r>
            <a:endParaRPr lang="en-US" sz="1450" dirty="0"/>
          </a:p>
        </p:txBody>
      </p:sp>
      <p:sp>
        <p:nvSpPr>
          <p:cNvPr id="36" name="Text 30"/>
          <p:cNvSpPr/>
          <p:nvPr/>
        </p:nvSpPr>
        <p:spPr>
          <a:xfrm>
            <a:off x="9075191" y="40690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lexical and semantic signals rather than relying on one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wasn’t A/B tested — it was tuned against one seed set in one evening. The numbers on the last slide are exactly why that distinction matters.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0292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0292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84280" y="96012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118872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9608" y="795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4754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1480292" y="91897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11612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6848" y="13441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502920" y="566928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66928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598932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0160" y="612648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5508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" y="56418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6172" y="608533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2728" y="651052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Shape 2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3" name="Image 0" descr="/Users/jg/Projects/nodes2026/.slidebuild/icons/section8_takea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862" y="1852574"/>
            <a:ext cx="683971" cy="6839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~3 min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2461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three jobs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three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109960" y="5989320"/>
            <a:ext cx="502920" cy="32004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89320"/>
            <a:ext cx="411480" cy="45720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309360"/>
            <a:ext cx="320040" cy="36576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0" y="6446520"/>
            <a:ext cx="137160" cy="4114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6675120"/>
            <a:ext cx="457200" cy="182880"/>
          </a:xfrm>
          <a:prstGeom prst="line">
            <a:avLst/>
          </a:prstGeom>
          <a:noFill/>
          <a:ln w="12700">
            <a:solidFill>
              <a:srgbClr val="D7E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2528" y="628192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59618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1" name="Shape 9"/>
          <p:cNvSpPr/>
          <p:nvPr/>
        </p:nvSpPr>
        <p:spPr>
          <a:xfrm>
            <a:off x="11983212" y="6405372"/>
            <a:ext cx="82296" cy="82296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68" y="664768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9768" y="6830568"/>
            <a:ext cx="54864" cy="54864"/>
          </a:xfrm>
          <a:prstGeom prst="ellipse">
            <a:avLst/>
          </a:prstGeom>
          <a:solidFill>
            <a:srgbClr val="0E9C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920240"/>
            <a:ext cx="3210458" cy="3931920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8149" y="228600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18" name="Image 0" descr="/Users/jg/Projects/nodes2026/.slidebuild/icons/icon_end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9823" y="2417674"/>
            <a:ext cx="559613" cy="55961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Federation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97280" y="37947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4297680"/>
            <a:ext cx="2570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one auth surface, a collapsed tool list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490618" y="1920240"/>
            <a:ext cx="3210458" cy="3931920"/>
          </a:xfrm>
          <a:prstGeom prst="roundRect">
            <a:avLst>
              <a:gd name="adj" fmla="val 3987"/>
            </a:avLst>
          </a:prstGeom>
          <a:solidFill>
            <a:srgbClr val="0F1B3D"/>
          </a:solidFill>
          <a:ln/>
        </p:spPr>
      </p:sp>
      <p:sp>
        <p:nvSpPr>
          <p:cNvPr id="23" name="Shape 20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24" name="Image 1" descr="/Users/jg/Projects/nodes2026/.slidebuild/icons/section3_patt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041" y="2417674"/>
            <a:ext cx="559613" cy="55961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73498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673498" y="37947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810658" y="4297680"/>
            <a:ext cx="2570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relationships between systems — not just another system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8066837" y="1920240"/>
            <a:ext cx="3210458" cy="3931920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260586" y="2286000"/>
            <a:ext cx="822960" cy="82296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30" name="Image 2" descr="/Users/jg/Projects/nodes2026/.slidebuild/icons/col_vecto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260" y="2417674"/>
            <a:ext cx="559613" cy="55961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249717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8249717" y="37947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386877" y="4297680"/>
            <a:ext cx="2570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nobody explicitly named — with an honest account of where it breaks at small scale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48640" y="54864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54864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6868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25880" y="100584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3444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8412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5212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1421892" y="96469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12070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389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607040" y="548640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48640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580644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1384280" y="594360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7080" y="617220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79608" y="57790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82528" y="54589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80292" y="590245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99648" y="614476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56848" y="63276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1463040"/>
            <a:ext cx="98142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federated endpoint is manageable. A knowledge graph makes it intelligent. And when you actually build the vector layer instead of just proposing it, you find out exactly where the easy version breaks — which is a better talk than pretending it doesn’t."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638648" y="4526280"/>
            <a:ext cx="914400" cy="0"/>
          </a:xfrm>
          <a:prstGeom prst="line">
            <a:avLst/>
          </a:prstGeom>
          <a:noFill/>
          <a:ln w="25400">
            <a:solidFill>
              <a:srgbClr val="22D3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data model: github.com — link in the session description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Giffard  ·  Lead PM, Neo4j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of MCP servers — NODES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638648" y="5120640"/>
            <a:ext cx="502920" cy="32004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1568" y="5120640"/>
            <a:ext cx="411480" cy="45720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38648" y="5440680"/>
            <a:ext cx="320040" cy="36576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415888" y="5577840"/>
            <a:ext cx="137160" cy="4114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58688" y="5806440"/>
            <a:ext cx="457200" cy="182880"/>
          </a:xfrm>
          <a:prstGeom prst="line">
            <a:avLst/>
          </a:prstGeom>
          <a:noFill/>
          <a:ln w="12700">
            <a:solidFill>
              <a:srgbClr val="2A3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1216" y="541324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8" name="Shape 6"/>
          <p:cNvSpPr/>
          <p:nvPr/>
        </p:nvSpPr>
        <p:spPr>
          <a:xfrm>
            <a:off x="6114136" y="50932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9" name="Shape 7"/>
          <p:cNvSpPr/>
          <p:nvPr/>
        </p:nvSpPr>
        <p:spPr>
          <a:xfrm>
            <a:off x="6511900" y="5536692"/>
            <a:ext cx="82296" cy="82296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0" name="Shape 8"/>
          <p:cNvSpPr/>
          <p:nvPr/>
        </p:nvSpPr>
        <p:spPr>
          <a:xfrm>
            <a:off x="5931256" y="577900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1" name="Shape 9"/>
          <p:cNvSpPr/>
          <p:nvPr/>
        </p:nvSpPr>
        <p:spPr>
          <a:xfrm>
            <a:off x="6388456" y="5961888"/>
            <a:ext cx="54864" cy="54864"/>
          </a:xfrm>
          <a:prstGeom prst="ellipse">
            <a:avLst/>
          </a:prstGeom>
          <a:solidFill>
            <a:srgbClr val="22D3C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· vendor choice · the embedding-noise problem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2026-08-28T19:02:47Z</dcterms:created>
  <dcterms:modified xsi:type="dcterms:W3CDTF">2026-08-28T19:02:47Z</dcterms:modified>
</cp:coreProperties>
</file>